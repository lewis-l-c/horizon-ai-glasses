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各位评委老师好，我是"视界无界"团队。我们做的是基于 Rokid AI 眼镜的一体化智能助手，参赛赛道是无界应用，属于 AI+眼镜方向。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为什么做这件事？因为我们发现，骑行、过马路、陌生城市里，用户低头看屏获取信息既不安全也不现实。视障者看不清信号灯，游客看外语菜单反复切应用，骑行者不敢低头看导航。信息应该"抬头即见"。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传统方式操作链太长：举起手机、找应用、对准、等待、低头确认，手忙、眼累、易错，无网还失效。我们的方案是让用户说一句话，Agent 完成识别、规划、调工具、反馈，全程免手、免低头、离线可用。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我们提出：端云协同 × 无屏交互的眼镜智能体。三个支柱：无屏交互、关键识别端侧化、多模态一体化。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产品形态是眼镜＋手机＋遥控三层硬件：Rokid 眼镜负责感知与近眼显示，Android 手机是计算与调度中枢，HID 遥控在语音不便时兜底。这张是应用界面的开发预览。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这是整套系统的核心——Agent 工作流程。用户说一句话，系统完成语音识别、意图理解、任务规划、调用工具（端侧识别或云端模型）、获取业务数据、模型推理、生成结果，最后经过风险与权限检查，再以语音和近眼显示反馈给用户。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能力不是口号。我们把它拆成能力矩阵：语音感知与意图理解、任务规划、工具调用、数据查询、智能分析、结果反馈，每条都有真实实现方式、调用资源和输出结果。自主多步规划和长期记忆属于规划能力，后续补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技术上我们分了四层：应用场景层、智能理解层、基础能力层、设备连接层。分层解耦让能力可复用，端云协同贯穿四层。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再看任务真正怎么完成。Agent 负责编排；模型层用 Vosk、TFLite、ML Kit、DeepSeek、GLM-4V；工具层有高德、CameraX、眼镜拍照、TTS、传感器；数据层画面、语音、位置、传感器本地优先、云端最小上传。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这些是真实设备截图：盲道识别、翻译同传、地图导航、拍照解题，全部联调跑通，现场可以复现。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效果上，10 条功能用例全部通过，统一语音调度 20+ 动作指令，6 条核心链路跑通，TTS 播报无抢麦。连续帧稳定机制有效压制误检，弱网时核心识别仍可用。定量性能指标会在真实试点阶段实测。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合规上我们分三个层级：AI 自动执行（离线识别、翻译播报、本地记录）、人工确认（支付、导航高风险动作、解题上传）、禁止自动执行（健康不作医疗结论、视障辅助不替代人、原始画面不外传、密钥迁服务端）。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一句话价值：从"人工找信息"到"Agent 主动完成任务"——操作最少化、离线可依赖、能力可编排。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落地场景三类：视障无障碍出行（红绿灯、盲道）、跨境旅行（翻译、同传、导航）、户外运动（语音导航、步数、免手交互）。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后续分四步：阶段一原型验证已完成；阶段二面向视障、旅行、运动做真实试点，实测性能指标；阶段三统一工具协议、Agent 自主编排、建长期记忆、接入真实业务系统；阶段四 C 端订阅、B 端场景和开源。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最后总结：让智能眼镜成为参与日常生活的个人智能终端。项目坚持开源、模块可复用。谢谢各位评委，欢迎指正。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_glasses_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_glasses_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af7c568679132e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d441e98a9db8e26.png"/>
  <Relationship Id="rId3" Type="http://schemas.openxmlformats.org/officeDocument/2006/relationships/image" Target="../media/image_01920ff72e1e8af0.png"/>
  <Relationship Id="rId4" Type="http://schemas.openxmlformats.org/officeDocument/2006/relationships/image" Target="../media/image_4a8d6dc125df4860.png"/>
  <Relationship Id="rId5" Type="http://schemas.openxmlformats.org/officeDocument/2006/relationships/image" Target="../media/image_4d73d76a493f12f9.png"/>
  <Relationship Id="rId6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952500" y="-952500"/>
            <a:ext cx="13525500" cy="8572500"/>
            <a:chOff x="-952500" y="-952500"/>
            <a:chExt cx="13525500" cy="8572500"/>
          </a:xfrm>
        </p:grpSpPr>
        <p:sp>
          <p:nvSpPr>
            <p:cNvPr id="2" name="Ellipse 2"/>
            <p:cNvSpPr/>
            <p:nvPr/>
          </p:nvSpPr>
          <p:spPr>
            <a:xfrm>
              <a:off x="8382000" y="-952500"/>
              <a:ext cx="4191000" cy="4191000"/>
            </a:xfrm>
            <a:prstGeom prst="ellipse">
              <a:avLst/>
            </a:prstGeom>
            <a:noFill/>
            <a:ln w="19050">
              <a:solidFill>
                <a:srgbClr val="FDBA74">
                  <a:alpha val="18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9048750" y="-285750"/>
              <a:ext cx="2857500" cy="2857500"/>
            </a:xfrm>
            <a:prstGeom prst="ellipse">
              <a:avLst/>
            </a:prstGeom>
            <a:noFill/>
            <a:ln w="19050">
              <a:solidFill>
                <a:srgbClr val="FDBA74">
                  <a:alpha val="14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0" y="4191000"/>
              <a:ext cx="3429000" cy="3429000"/>
            </a:xfrm>
            <a:prstGeom prst="ellipse">
              <a:avLst/>
            </a:prstGeom>
            <a:noFill/>
            <a:ln w="19050">
              <a:solidFill>
                <a:srgbClr val="FDBA74">
                  <a:alpha val="12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952500" y="2286000"/>
            <a:ext cx="914400" cy="76200"/>
            <a:chOff x="952500" y="2286000"/>
            <a:chExt cx="914400" cy="76200"/>
          </a:xfrm>
        </p:grpSpPr>
        <p:sp>
          <p:nvSpPr>
            <p:cNvPr id="7" name="Rectangle 7"/>
            <p:cNvSpPr/>
            <p:nvPr/>
          </p:nvSpPr>
          <p:spPr>
            <a:xfrm>
              <a:off x="952500" y="2286000"/>
              <a:ext cx="914400" cy="762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33450" y="2907030"/>
            <a:ext cx="3769766" cy="1276350"/>
            <a:chOff x="933450" y="2907030"/>
            <a:chExt cx="3769766" cy="1276350"/>
          </a:xfrm>
        </p:grpSpPr>
        <p:sp>
          <p:nvSpPr>
            <p:cNvPr id="9" name="TextBox 9"/>
            <p:cNvSpPr txBox="1"/>
            <p:nvPr/>
          </p:nvSpPr>
          <p:spPr>
            <a:xfrm>
              <a:off x="933450" y="2907030"/>
              <a:ext cx="376976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视界无界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7260" y="4019550"/>
            <a:ext cx="4578248" cy="586740"/>
            <a:chOff x="937260" y="4019550"/>
            <a:chExt cx="4578248" cy="586740"/>
          </a:xfrm>
        </p:grpSpPr>
        <p:sp>
          <p:nvSpPr>
            <p:cNvPr id="11" name="TextBox 11"/>
            <p:cNvSpPr txBox="1"/>
            <p:nvPr/>
          </p:nvSpPr>
          <p:spPr>
            <a:xfrm>
              <a:off x="937260" y="4019550"/>
              <a:ext cx="45782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AI 智能眼镜一体化助手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2594" y="4742498"/>
            <a:ext cx="4705598" cy="381381"/>
            <a:chOff x="942594" y="4742498"/>
            <a:chExt cx="4705598" cy="381381"/>
          </a:xfrm>
        </p:grpSpPr>
        <p:sp>
          <p:nvSpPr>
            <p:cNvPr id="13" name="TextBox 13"/>
            <p:cNvSpPr txBox="1"/>
            <p:nvPr/>
          </p:nvSpPr>
          <p:spPr>
            <a:xfrm>
              <a:off x="942594" y="47424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端云协同 × 无屏交互 —— 让信息抬头即见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5715000"/>
            <a:ext cx="5715000" cy="495300"/>
            <a:chOff x="952500" y="5715000"/>
            <a:chExt cx="5715000" cy="495300"/>
          </a:xfrm>
        </p:grpSpPr>
        <p:sp>
          <p:nvSpPr>
            <p:cNvPr id="15" name="Rectangle 15"/>
            <p:cNvSpPr/>
            <p:nvPr/>
          </p:nvSpPr>
          <p:spPr>
            <a:xfrm>
              <a:off x="952500" y="5715000"/>
              <a:ext cx="5715000" cy="495300"/>
            </a:xfrm>
            <a:prstGeom prst="roundRect">
              <a:avLst>
                <a:gd name="adj" fmla="val 50000"/>
              </a:avLst>
            </a:prstGeom>
            <a:solidFill>
              <a:srgbClr val="F97316">
                <a:alpha val="92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9880" y="5835015"/>
              <a:ext cx="5420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赛道二 · 无界应用｜Boundless Agents · AI+眼镜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44880" y="6410325"/>
            <a:ext cx="2165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答辩演示 · 2026-08-14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54380" y="657225"/>
            <a:ext cx="863346" cy="293370"/>
            <a:chOff x="754380" y="657225"/>
            <a:chExt cx="863346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754380" y="657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场景来源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2950" y="1832610"/>
            <a:ext cx="10130561" cy="819150"/>
            <a:chOff x="742950" y="1832610"/>
            <a:chExt cx="10130561" cy="819150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183261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低头看屏，正在锁死出行中的信息获取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094" y="2932748"/>
            <a:ext cx="7370064" cy="381381"/>
            <a:chOff x="752094" y="2932748"/>
            <a:chExt cx="7370064" cy="381381"/>
          </a:xfrm>
        </p:grpSpPr>
        <p:sp>
          <p:nvSpPr>
            <p:cNvPr id="8" name="TextBox 8"/>
            <p:cNvSpPr txBox="1"/>
            <p:nvPr/>
          </p:nvSpPr>
          <p:spPr>
            <a:xfrm>
              <a:off x="752094" y="2932748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骑行、过马路、陌生城市里，用户低头看屏既不安全，也不现实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000500"/>
            <a:ext cx="10477500" cy="1619250"/>
            <a:chOff x="762000" y="4000500"/>
            <a:chExt cx="10477500" cy="1619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000500"/>
              <a:ext cx="3238500" cy="1619250"/>
            </a:xfrm>
            <a:prstGeom prst="roundRect">
              <a:avLst>
                <a:gd name="adj" fmla="val 9412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4000500"/>
              <a:ext cx="3238500" cy="9525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43776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过马路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130" y="4791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视障者看不清信号灯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130" y="50958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依赖他人或抬头举手机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4000500"/>
              <a:ext cx="3238500" cy="1619250"/>
            </a:xfrm>
            <a:prstGeom prst="roundRect">
              <a:avLst>
                <a:gd name="adj" fmla="val 9412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4000500"/>
              <a:ext cx="3238500" cy="9525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58106" y="4377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陌生城市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9630" y="4791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外语路牌 / 菜单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9630" y="5095875"/>
              <a:ext cx="1741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拍照→翻译反复切换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4000500"/>
              <a:ext cx="3238500" cy="1619250"/>
            </a:xfrm>
            <a:prstGeom prst="roundRect">
              <a:avLst>
                <a:gd name="adj" fmla="val 9412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01000" y="4000500"/>
              <a:ext cx="3238500" cy="95250"/>
            </a:xfrm>
            <a:prstGeom prst="roundRect">
              <a:avLst>
                <a:gd name="adj" fmla="val 50000"/>
              </a:avLst>
            </a:prstGeom>
            <a:solidFill>
              <a:srgbClr val="FDBA7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7606" y="437769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骑行 / 步行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9130" y="4791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不敢低头看导航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9130" y="5095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双手被占用、视线不能离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54380" y="657225"/>
            <a:ext cx="863346" cy="293370"/>
            <a:chOff x="754380" y="657225"/>
            <a:chExt cx="863346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754380" y="657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用户痛点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6760" y="1200150"/>
            <a:ext cx="6900139" cy="586740"/>
            <a:chOff x="746760" y="1200150"/>
            <a:chExt cx="690013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746760" y="1200150"/>
              <a:ext cx="69001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从"人工找数据"到"一句话完成任务"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2000250"/>
            <a:ext cx="4572000" cy="3429000"/>
            <a:chOff x="762000" y="2000250"/>
            <a:chExt cx="4572000" cy="3429000"/>
          </a:xfrm>
        </p:grpSpPr>
        <p:sp>
          <p:nvSpPr>
            <p:cNvPr id="8" name="Rectangle 8"/>
            <p:cNvSpPr/>
            <p:nvPr/>
          </p:nvSpPr>
          <p:spPr>
            <a:xfrm>
              <a:off x="762000" y="2000250"/>
              <a:ext cx="4572000" cy="3429000"/>
            </a:xfrm>
            <a:prstGeom prst="roundRect">
              <a:avLst>
                <a:gd name="adj" fmla="val 444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2000250"/>
              <a:ext cx="4572000" cy="95250"/>
            </a:xfrm>
            <a:prstGeom prst="roundRect">
              <a:avLst>
                <a:gd name="adj" fmla="val 50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443658" y="23450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传统模式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2857500"/>
              <a:ext cx="381000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25880" y="304800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举起手机 · 找应用 · 对准目标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486150"/>
              <a:ext cx="381000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880" y="3676650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等待识别 · 反复切换应用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43000" y="4114800"/>
              <a:ext cx="381000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25880" y="4305300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低头确认 · 双手被占用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4502" y="5029200"/>
              <a:ext cx="2866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手忙 · 眼累 · 易错 · 无网失效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491924" y="3619500"/>
            <a:ext cx="922401" cy="404051"/>
            <a:chOff x="5491924" y="3619500"/>
            <a:chExt cx="922401" cy="404051"/>
          </a:xfrm>
        </p:grpSpPr>
        <p:sp>
          <p:nvSpPr>
            <p:cNvPr id="19" name="Line 19"/>
            <p:cNvSpPr/>
            <p:nvPr/>
          </p:nvSpPr>
          <p:spPr>
            <a:xfrm>
              <a:off x="5619750" y="3619500"/>
              <a:ext cx="666750" cy="1"/>
            </a:xfrm>
            <a:prstGeom prst="line">
              <a:avLst/>
            </a:prstGeom>
            <a:noFill/>
            <a:ln w="38100">
              <a:solidFill>
                <a:srgbClr val="F97316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91924" y="3759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缩短操作链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0" y="2000250"/>
            <a:ext cx="4762500" cy="3429000"/>
            <a:chOff x="6667500" y="2000250"/>
            <a:chExt cx="47625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6667500" y="2000250"/>
              <a:ext cx="4762500" cy="3429000"/>
            </a:xfrm>
            <a:prstGeom prst="roundRect">
              <a:avLst>
                <a:gd name="adj" fmla="val 4444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0" y="2000250"/>
              <a:ext cx="4762500" cy="9525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47571" y="2345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视界无界模式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48500" y="2857500"/>
              <a:ext cx="400050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31380" y="3048000"/>
              <a:ext cx="2404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说一句话（"导航到XX"）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048500" y="3486150"/>
              <a:ext cx="400050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31380" y="3676650"/>
              <a:ext cx="2537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识别 → 规划 → 调工具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48500" y="4114800"/>
              <a:ext cx="400050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1380" y="4305300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结果语音播报 + 近眼显示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43180" y="5029200"/>
              <a:ext cx="2411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免手 · 免低头 · 离线可用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762000" y="-952500"/>
            <a:ext cx="13906500" cy="8382000"/>
            <a:chOff x="-762000" y="-952500"/>
            <a:chExt cx="13906500" cy="8382000"/>
          </a:xfrm>
        </p:grpSpPr>
        <p:sp>
          <p:nvSpPr>
            <p:cNvPr id="2" name="Ellipse 2"/>
            <p:cNvSpPr/>
            <p:nvPr/>
          </p:nvSpPr>
          <p:spPr>
            <a:xfrm>
              <a:off x="9334500" y="-952500"/>
              <a:ext cx="3810000" cy="3810000"/>
            </a:xfrm>
            <a:prstGeom prst="ellipse">
              <a:avLst/>
            </a:prstGeom>
            <a:noFill/>
            <a:ln w="19050">
              <a:solidFill>
                <a:srgbClr val="FDBA74">
                  <a:alpha val="15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-762000" y="4381500"/>
              <a:ext cx="3048000" cy="3048000"/>
            </a:xfrm>
            <a:prstGeom prst="ellipse">
              <a:avLst/>
            </a:prstGeom>
            <a:noFill/>
            <a:ln w="19050">
              <a:solidFill>
                <a:srgbClr val="FDBA74">
                  <a:alpha val="12000"/>
                </a:srgbClr>
              </a:solidFill>
            </a:ln>
          </p:spPr>
        </p:sp>
      </p:grpSp>
      <p:sp>
        <p:nvSpPr>
          <p:cNvPr id="5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51332" y="1964055"/>
            <a:ext cx="1876568" cy="410718"/>
            <a:chOff x="751332" y="1964055"/>
            <a:chExt cx="187656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751332" y="1964055"/>
              <a:ext cx="1876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03 · 解决方案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2950" y="2943225"/>
            <a:ext cx="5858227" cy="876300"/>
            <a:chOff x="742950" y="2943225"/>
            <a:chExt cx="5858227" cy="876300"/>
          </a:xfrm>
        </p:grpSpPr>
        <p:sp>
          <p:nvSpPr>
            <p:cNvPr id="8" name="TextBox 8"/>
            <p:cNvSpPr txBox="1"/>
            <p:nvPr/>
          </p:nvSpPr>
          <p:spPr>
            <a:xfrm>
              <a:off x="742950" y="2943225"/>
              <a:ext cx="585822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端云协同 × 无屏交互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0570" y="4233862"/>
            <a:ext cx="7595235" cy="440055"/>
            <a:chOff x="750570" y="4233862"/>
            <a:chExt cx="7595235" cy="440055"/>
          </a:xfrm>
        </p:grpSpPr>
        <p:sp>
          <p:nvSpPr>
            <p:cNvPr id="10" name="TextBox 10"/>
            <p:cNvSpPr txBox="1"/>
            <p:nvPr/>
          </p:nvSpPr>
          <p:spPr>
            <a:xfrm>
              <a:off x="750570" y="4233862"/>
              <a:ext cx="75952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一个语音优先、端云协同的眼镜智能体，让信息抬头即见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5143500"/>
            <a:ext cx="10668000" cy="762000"/>
            <a:chOff x="762000" y="5143500"/>
            <a:chExt cx="10668000" cy="762000"/>
          </a:xfrm>
        </p:grpSpPr>
        <p:sp>
          <p:nvSpPr>
            <p:cNvPr id="12" name="Rectangle 12"/>
            <p:cNvSpPr/>
            <p:nvPr/>
          </p:nvSpPr>
          <p:spPr>
            <a:xfrm>
              <a:off x="762000" y="5143500"/>
              <a:ext cx="3238500" cy="762000"/>
            </a:xfrm>
            <a:prstGeom prst="roundRect">
              <a:avLst>
                <a:gd name="adj" fmla="val 175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63242" y="5444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无屏交互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5143500"/>
              <a:ext cx="3238500" cy="762000"/>
            </a:xfrm>
            <a:prstGeom prst="roundRect">
              <a:avLst>
                <a:gd name="adj" fmla="val 175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96345" y="54444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关键识别端侧化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0" y="5143500"/>
              <a:ext cx="3238500" cy="762000"/>
            </a:xfrm>
            <a:prstGeom prst="roundRect">
              <a:avLst>
                <a:gd name="adj" fmla="val 175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38311" y="5444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多模态一体化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7790650" cy="586740"/>
            <a:chOff x="746760" y="266700"/>
            <a:chExt cx="7790650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77906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眼镜 + 手机 + 遥控：三层硬件，一个闭环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62000" y="1047750"/>
            <a:ext cx="6667500" cy="4457700"/>
            <a:chOff x="762000" y="1047750"/>
            <a:chExt cx="6667500" cy="44577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5377" y="1047750"/>
              <a:ext cx="6300747" cy="37528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62000" y="4991100"/>
              <a:ext cx="6667500" cy="514350"/>
            </a:xfrm>
            <a:prstGeom prst="rect">
              <a:avLst/>
            </a:prstGeom>
            <a:solidFill>
              <a:schemeClr val="dk1">
                <a:alpha val="85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118" y="5146358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应用界面开发预览：语音入口 + 各能力模块统一调度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10500" y="1143000"/>
            <a:ext cx="3619500" cy="3668173"/>
            <a:chOff x="7810500" y="1143000"/>
            <a:chExt cx="3619500" cy="3668173"/>
          </a:xfrm>
        </p:grpSpPr>
        <p:sp>
          <p:nvSpPr>
            <p:cNvPr id="11" name="Rectangle 11"/>
            <p:cNvSpPr/>
            <p:nvPr/>
          </p:nvSpPr>
          <p:spPr>
            <a:xfrm>
              <a:off x="7810500" y="1143000"/>
              <a:ext cx="3619500" cy="1143000"/>
            </a:xfrm>
            <a:prstGeom prst="roundRect">
              <a:avLst>
                <a:gd name="adj" fmla="val 11667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0" y="1143000"/>
              <a:ext cx="361950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87106" y="1377315"/>
              <a:ext cx="16620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Rokid Glasses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9011" y="1751171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近眼显示 · 摄像头 · 麦克风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9011" y="20178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第一视角感知与呈现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10500" y="2400300"/>
              <a:ext cx="3619500" cy="1143000"/>
            </a:xfrm>
            <a:prstGeom prst="roundRect">
              <a:avLst>
                <a:gd name="adj" fmla="val 11667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0" y="2400300"/>
              <a:ext cx="3619500" cy="76200"/>
            </a:xfrm>
            <a:prstGeom prst="roundRect">
              <a:avLst>
                <a:gd name="adj" fmla="val 50000"/>
              </a:avLst>
            </a:prstGeom>
            <a:solidFill>
              <a:srgbClr val="FDBA7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87106" y="2634615"/>
              <a:ext cx="1531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Android 手机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89011" y="3008471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 · 网络 · 场景调度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011" y="32751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端云协同的中枢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0" y="3657600"/>
              <a:ext cx="3619500" cy="1143000"/>
            </a:xfrm>
            <a:prstGeom prst="roundRect">
              <a:avLst>
                <a:gd name="adj" fmla="val 11667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3657600"/>
              <a:ext cx="361950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87106" y="3891915"/>
              <a:ext cx="10129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 遥控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9011" y="42657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语音不便时的兜底输入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89011" y="45324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单手免触屏操作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7042236" cy="586740"/>
            <a:chOff x="746760" y="266700"/>
            <a:chExt cx="7042236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70422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一句话任务，走完 Agent 完整工作流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762000" y="1428750"/>
            <a:ext cx="10668000" cy="2873978"/>
            <a:chOff x="762000" y="1428750"/>
            <a:chExt cx="10668000" cy="2873978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4556" y="15935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用户说出任务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3950" y="1862614"/>
              <a:ext cx="1897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8CDD5"/>
                  </a:solidFill>
                  <a:latin typeface="+mn-lt"/>
                  <a:ea typeface="+mn-ea"/>
                  <a:cs typeface="+mn-cs"/>
                </a:rPr>
                <a:t>"导航到XX / 翻译一下"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200400" y="1762125"/>
              <a:ext cx="2476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524250" y="142875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24250" y="142875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65238" y="1593532"/>
              <a:ext cx="229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Vosk 识别 + 意图理解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52819" y="1862614"/>
              <a:ext cx="1524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本地匹配 + AI 分流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962650" y="1762125"/>
              <a:ext cx="2476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142875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42875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02285" y="1593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任务规划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82313" y="18626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选择动作 → 编排步骤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724900" y="1762125"/>
              <a:ext cx="2476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048750" y="142875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48750" y="142875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64535" y="1593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调用工具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73169" y="186261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端侧识别 / 云端模型 / 高德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714875" y="2152650"/>
              <a:ext cx="1" cy="247650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24250" y="247650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24250" y="247650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06806" y="26412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获取业务数据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07140" y="2910364"/>
              <a:ext cx="161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 / 画面 / 传感器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962650" y="2809875"/>
              <a:ext cx="2476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247650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247650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34949" y="2641282"/>
              <a:ext cx="1684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模型分析 / 推理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547" y="2910364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 / 翻译 / 解题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724900" y="2809875"/>
              <a:ext cx="2476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048750" y="247650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48750" y="247650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64535" y="2641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生成结果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46403" y="2910364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 / 译文 / 讲解 / 提醒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477125" y="3200400"/>
              <a:ext cx="1" cy="342900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86500" y="361950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361950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01720" y="3784282"/>
              <a:ext cx="2150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风险检查 / 权限控制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3843" y="405336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支付 / 导航高风险动作确认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724900" y="3952875"/>
              <a:ext cx="2476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048750" y="3619500"/>
              <a:ext cx="2381250" cy="666750"/>
            </a:xfrm>
            <a:prstGeom prst="roundRect">
              <a:avLst>
                <a:gd name="adj" fmla="val 17143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48750" y="3619500"/>
              <a:ext cx="238125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64535" y="3784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结果反馈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04492" y="4053364"/>
              <a:ext cx="1669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播报 + 近眼显示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9057848" cy="586740"/>
            <a:chOff x="746760" y="266700"/>
            <a:chExt cx="9057848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90578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能力矩阵：感知、理解、规划、执行一体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62000" y="1143000"/>
            <a:ext cx="10668000" cy="4057650"/>
            <a:chOff x="762000" y="1143000"/>
            <a:chExt cx="10668000" cy="4057650"/>
          </a:xfrm>
        </p:grpSpPr>
        <p:sp>
          <p:nvSpPr>
            <p:cNvPr id="7" name="Rectangle 7"/>
            <p:cNvSpPr/>
            <p:nvPr/>
          </p:nvSpPr>
          <p:spPr>
            <a:xfrm>
              <a:off x="762000" y="1143000"/>
              <a:ext cx="10668000" cy="5143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4999" y="1306354"/>
              <a:ext cx="11566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20999" y="1306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7999" y="1306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调用资源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64499" y="1306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657350"/>
              <a:ext cx="10668000" cy="590550"/>
            </a:xfrm>
            <a:prstGeom prst="rect">
              <a:avLst/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18383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语音感知 / 意图理解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1761" y="1846421"/>
              <a:ext cx="27964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Vosk 离线识别 + DeepSeek 分流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8761" y="1846421"/>
              <a:ext cx="22914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麦克风 / Prompt + 动作集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5261" y="1846421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动作指令 / 任务识别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10668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5380" y="2428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任务规划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1761" y="2436971"/>
              <a:ext cx="20948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本地规则 + AI 意图编排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8761" y="24369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预定义动作集合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5261" y="24369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执行步骤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838450"/>
              <a:ext cx="10668000" cy="590550"/>
            </a:xfrm>
            <a:prstGeom prst="rect">
              <a:avLst/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5380" y="3019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21761" y="30275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端云分工调度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88761" y="3027521"/>
              <a:ext cx="41357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CameraX / TFLite / ML Kit / 高德 / DeepSeek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5261" y="3027521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 / 翻译 / 导航结果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429000"/>
              <a:ext cx="10668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5380" y="36099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数据查询 / 感知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21761" y="3618071"/>
              <a:ext cx="17922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传感器 + 相机 + 定位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88761" y="3618071"/>
              <a:ext cx="26465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SensorManager / 位置 / 画面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5261" y="3618071"/>
              <a:ext cx="17922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步数 / 位置 / 图像帧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4019550"/>
              <a:ext cx="10668000" cy="590550"/>
            </a:xfrm>
            <a:prstGeom prst="rect">
              <a:avLst/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35380" y="42005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智能分析 / 推理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21761" y="4208621"/>
              <a:ext cx="22005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TFLite + GLM-4V 多模态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88761" y="420862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图像帧 / 题目画面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5261" y="4208621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 / 解题 / 分析结果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4610100"/>
              <a:ext cx="10668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5380" y="47910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结果反馈 / 播报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21761" y="4799171"/>
              <a:ext cx="1387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+ 近眼显示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88761" y="4799171"/>
              <a:ext cx="2112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Android TTS / CXR 视图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5261" y="479917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语音播报 / 可视化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4380" y="6048375"/>
            <a:ext cx="7284720" cy="293370"/>
            <a:chOff x="754380" y="6048375"/>
            <a:chExt cx="7284720" cy="293370"/>
          </a:xfrm>
        </p:grpSpPr>
        <p:sp>
          <p:nvSpPr>
            <p:cNvPr id="43" name="TextBox 43"/>
            <p:cNvSpPr txBox="1"/>
            <p:nvPr/>
          </p:nvSpPr>
          <p:spPr>
            <a:xfrm>
              <a:off x="754380" y="604837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以上均为已实现能力；自主多步规划、长期记忆属于规划能力，将在后续迭代补齐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525000" y="4572000"/>
            <a:ext cx="3429000" cy="3429000"/>
          </a:xfrm>
          <a:prstGeom prst="ellipse">
            <a:avLst/>
          </a:prstGeom>
          <a:noFill/>
          <a:ln w="19050">
            <a:solidFill>
              <a:srgbClr val="FDBA74">
                <a:alpha val="12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304800"/>
            <a:ext cx="6242856" cy="586740"/>
            <a:chOff x="746760" y="304800"/>
            <a:chExt cx="6242856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304800"/>
              <a:ext cx="624285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四层架构：设备—能力—理解—应用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810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905000" y="1333500"/>
            <a:ext cx="8454274" cy="4400550"/>
            <a:chOff x="1905000" y="1333500"/>
            <a:chExt cx="8454274" cy="4400550"/>
          </a:xfrm>
        </p:grpSpPr>
        <p:sp>
          <p:nvSpPr>
            <p:cNvPr id="7" name="Rectangle 7"/>
            <p:cNvSpPr/>
            <p:nvPr/>
          </p:nvSpPr>
          <p:spPr>
            <a:xfrm>
              <a:off x="1905000" y="1333500"/>
              <a:ext cx="8382000" cy="857250"/>
            </a:xfrm>
            <a:prstGeom prst="roundRect">
              <a:avLst>
                <a:gd name="adj" fmla="val 1333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905000" y="1333500"/>
              <a:ext cx="95250" cy="8572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276094" y="16182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应用场景层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4618" y="1650682"/>
              <a:ext cx="48812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翻译 · 同传 · 导航 · 支付 · 无障碍 · 运动 · 解题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223837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9050">
              <a:solidFill>
                <a:srgbClr val="FDBA7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05000" y="2514600"/>
              <a:ext cx="8382000" cy="857250"/>
            </a:xfrm>
            <a:prstGeom prst="roundRect">
              <a:avLst>
                <a:gd name="adj" fmla="val 1333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05000" y="2514600"/>
              <a:ext cx="95250" cy="8572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76094" y="27993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智能理解层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44618" y="2831782"/>
              <a:ext cx="3785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本地规则 · DeepSeek · 智谱 GLM-4V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0" y="341947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9050">
              <a:solidFill>
                <a:srgbClr val="FDBA7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05000" y="3695700"/>
              <a:ext cx="8382000" cy="857250"/>
            </a:xfrm>
            <a:prstGeom prst="roundRect">
              <a:avLst>
                <a:gd name="adj" fmla="val 1333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05000" y="3695700"/>
              <a:ext cx="95250" cy="8572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76094" y="39804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基础能力层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4618" y="4012882"/>
              <a:ext cx="5414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Vosk · ML Kit OCR/二维码 · TensorFlow Lite · TTS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0" y="460057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9050">
              <a:solidFill>
                <a:srgbClr val="FDBA7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000" y="4876800"/>
              <a:ext cx="8382000" cy="857250"/>
            </a:xfrm>
            <a:prstGeom prst="roundRect">
              <a:avLst>
                <a:gd name="adj" fmla="val 1333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905000" y="4876800"/>
              <a:ext cx="95250" cy="8572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76094" y="51615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设备连接层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4618" y="5193982"/>
              <a:ext cx="5363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CXR-M SDK · 蓝牙 HID · CameraX · SensorManager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051400" y="6192679"/>
            <a:ext cx="4089199" cy="308039"/>
            <a:chOff x="4051400" y="6192679"/>
            <a:chExt cx="4089199" cy="308039"/>
          </a:xfrm>
        </p:grpSpPr>
        <p:sp>
          <p:nvSpPr>
            <p:cNvPr id="27" name="TextBox 27"/>
            <p:cNvSpPr txBox="1"/>
            <p:nvPr/>
          </p:nvSpPr>
          <p:spPr>
            <a:xfrm>
              <a:off x="4051400" y="6192679"/>
              <a:ext cx="40891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分层解耦 → 能力可复用；端云协同贯穿四层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9498463" cy="586740"/>
            <a:chOff x="746760" y="266700"/>
            <a:chExt cx="9498463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94984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Model + Tool + Data：任务真正如何完成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62000" y="1143000"/>
            <a:ext cx="10668000" cy="4248150"/>
            <a:chOff x="762000" y="1143000"/>
            <a:chExt cx="10668000" cy="4248150"/>
          </a:xfrm>
        </p:grpSpPr>
        <p:sp>
          <p:nvSpPr>
            <p:cNvPr id="7" name="Rectangle 7"/>
            <p:cNvSpPr/>
            <p:nvPr/>
          </p:nvSpPr>
          <p:spPr>
            <a:xfrm>
              <a:off x="762000" y="1143000"/>
              <a:ext cx="10668000" cy="819150"/>
            </a:xfrm>
            <a:prstGeom prst="roundRect">
              <a:avLst>
                <a:gd name="adj" fmla="val 13953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7844" y="1351598"/>
              <a:ext cx="1148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9499" y="1392079"/>
              <a:ext cx="608857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C8CDD5"/>
                  </a:solidFill>
                  <a:latin typeface="+mn-lt"/>
                  <a:ea typeface="+mn-ea"/>
                  <a:cs typeface="+mn-cs"/>
                </a:rPr>
                <a:t>"地平线"统一编排：理解意图 → 选择工具 → 组织步骤 → 反馈结果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0" y="2019300"/>
              <a:ext cx="1" cy="190500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2286000"/>
              <a:ext cx="10668000" cy="819150"/>
            </a:xfrm>
            <a:prstGeom prst="roundRect">
              <a:avLst>
                <a:gd name="adj" fmla="val 1395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286000"/>
              <a:ext cx="1066800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7844" y="2494598"/>
              <a:ext cx="11348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9499" y="2535079"/>
              <a:ext cx="81672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Vosk · TFLite · ML Kit · DeepSeek · GLM-4V（语音 / 识别 / OCR / 对话 / 图文）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3162300"/>
              <a:ext cx="1" cy="190500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3429000"/>
              <a:ext cx="10668000" cy="819150"/>
            </a:xfrm>
            <a:prstGeom prst="roundRect">
              <a:avLst>
                <a:gd name="adj" fmla="val 1395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429000"/>
              <a:ext cx="10668000" cy="762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7844" y="3637598"/>
              <a:ext cx="9283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9499" y="3678079"/>
              <a:ext cx="568083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高德地图 · CameraX 取帧 · 眼镜拍照 · TTS 播报 · 传感器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0" y="4305300"/>
              <a:ext cx="1" cy="190500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4572000"/>
              <a:ext cx="10668000" cy="819150"/>
            </a:xfrm>
            <a:prstGeom prst="roundRect">
              <a:avLst>
                <a:gd name="adj" fmla="val 13953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572000"/>
              <a:ext cx="10668000" cy="762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7844" y="4780598"/>
              <a:ext cx="9981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 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49499" y="4821079"/>
              <a:ext cx="7529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画面 · 语音 · 位置 · 传感器；本地优先，云端最小上传，GreenDAO 本地存储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8511540" cy="586740"/>
            <a:chOff x="746760" y="266700"/>
            <a:chExt cx="8511540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85115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真实软件：识别、翻译、导航、解题一次跑通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62000" y="1143000"/>
            <a:ext cx="9715500" cy="4219956"/>
            <a:chOff x="762000" y="1143000"/>
            <a:chExt cx="9715500" cy="4219956"/>
          </a:xfrm>
        </p:grpSpPr>
        <p:sp>
          <p:nvSpPr>
            <p:cNvPr id="7" name="Rectangle 7"/>
            <p:cNvSpPr/>
            <p:nvPr/>
          </p:nvSpPr>
          <p:spPr>
            <a:xfrm>
              <a:off x="762000" y="1143000"/>
              <a:ext cx="2286000" cy="4095750"/>
            </a:xfrm>
            <a:prstGeom prst="roundRect">
              <a:avLst>
                <a:gd name="adj" fmla="val 5833"/>
              </a:avLst>
            </a:prstGeom>
            <a:solidFill>
              <a:srgbClr val="FFF7ED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5190" y="1333500"/>
              <a:ext cx="1639620" cy="3429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496324" y="48753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盲道识别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0612" y="51282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 · 偏离度提示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38500" y="1143000"/>
              <a:ext cx="2286000" cy="4095750"/>
            </a:xfrm>
            <a:prstGeom prst="roundRect">
              <a:avLst>
                <a:gd name="adj" fmla="val 5833"/>
              </a:avLst>
            </a:prstGeom>
            <a:solidFill>
              <a:srgbClr val="FFF7ED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1551" y="1333500"/>
              <a:ext cx="1619898" cy="34290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3857411" y="4875371"/>
              <a:ext cx="10481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翻译 / 同传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65194" y="512826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OCR + LLM 翻译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0" y="1143000"/>
              <a:ext cx="2286000" cy="4095750"/>
            </a:xfrm>
            <a:prstGeom prst="roundRect">
              <a:avLst>
                <a:gd name="adj" fmla="val 5833"/>
              </a:avLst>
            </a:prstGeom>
            <a:solidFill>
              <a:srgbClr val="FFF7ED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500" y="1524483"/>
              <a:ext cx="1905000" cy="3047034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449324" y="48753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地图导航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1496" y="512826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 / 路线 / 播报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91500" y="1143000"/>
              <a:ext cx="2286000" cy="4095750"/>
            </a:xfrm>
            <a:prstGeom prst="roundRect">
              <a:avLst>
                <a:gd name="adj" fmla="val 5833"/>
              </a:avLst>
            </a:prstGeom>
            <a:solidFill>
              <a:srgbClr val="FFF7ED"/>
            </a:solidFill>
            <a:ln>
              <a:noFill/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26832" y="1333500"/>
              <a:ext cx="1615336" cy="3429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925824" y="48753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拍照解题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2721" y="5128260"/>
              <a:ext cx="134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GLM-4V 图文理解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380" y="6410325"/>
            <a:ext cx="4286060" cy="293370"/>
            <a:chOff x="754380" y="6410325"/>
            <a:chExt cx="4286060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754380" y="6410325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均为真实设备截图，非概念图 · 现场可演示复现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525000" y="-571500"/>
            <a:ext cx="3429000" cy="3429000"/>
          </a:xfrm>
          <a:prstGeom prst="ellipse">
            <a:avLst/>
          </a:prstGeom>
          <a:noFill/>
          <a:ln w="19050">
            <a:solidFill>
              <a:srgbClr val="FDBA74">
                <a:alpha val="10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304800"/>
            <a:ext cx="8257108" cy="586740"/>
            <a:chOff x="746760" y="304800"/>
            <a:chExt cx="8257108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304800"/>
              <a:ext cx="825710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实际效果：10 条用例通过，端侧识别毫秒级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810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62000" y="1428750"/>
            <a:ext cx="10668000" cy="1905000"/>
            <a:chOff x="762000" y="1428750"/>
            <a:chExt cx="10668000" cy="19050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2381250" cy="1905000"/>
            </a:xfrm>
            <a:prstGeom prst="roundRect">
              <a:avLst>
                <a:gd name="adj" fmla="val 8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83731" y="1990725"/>
              <a:ext cx="73778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5751" y="2869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功能用例全部通过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24250" y="1428750"/>
              <a:ext cx="2381250" cy="1905000"/>
            </a:xfrm>
            <a:prstGeom prst="roundRect">
              <a:avLst>
                <a:gd name="adj" fmla="val 8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171059" y="1990725"/>
              <a:ext cx="108763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20+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8001" y="2869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统一语音动作指令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428750"/>
              <a:ext cx="2381250" cy="1905000"/>
            </a:xfrm>
            <a:prstGeom prst="roundRect">
              <a:avLst>
                <a:gd name="adj" fmla="val 8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3153" y="199072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80251" y="2869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核心链路联调跑通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048750" y="1428750"/>
              <a:ext cx="2381250" cy="1905000"/>
            </a:xfrm>
            <a:prstGeom prst="roundRect">
              <a:avLst>
                <a:gd name="adj" fmla="val 8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45403" y="199072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F9731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32772" y="2869882"/>
              <a:ext cx="1413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TTS 播报抢麦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2094" y="4647248"/>
            <a:ext cx="7192861" cy="1421891"/>
            <a:chOff x="752094" y="4647248"/>
            <a:chExt cx="7192861" cy="1421891"/>
          </a:xfrm>
        </p:grpSpPr>
        <p:sp>
          <p:nvSpPr>
            <p:cNvPr id="20" name="TextBox 20"/>
            <p:cNvSpPr txBox="1"/>
            <p:nvPr/>
          </p:nvSpPr>
          <p:spPr>
            <a:xfrm>
              <a:off x="752094" y="4647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验证结论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" y="5060632"/>
              <a:ext cx="4270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红绿灯 / 盲道连续帧稳定机制有效压制误检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618" y="5403532"/>
              <a:ext cx="4270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弱网 / 断网时核心识别仍可用（端侧兜底）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618" y="5746432"/>
              <a:ext cx="71913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定量性能指标（首帧延迟 / 准确率 / 误报率）将在真实用户试点阶段实测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7663434" cy="586740"/>
            <a:chOff x="746760" y="266700"/>
            <a:chExt cx="7663434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76634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合规边界：哪些自动做，哪些必须人确认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62000" y="1333500"/>
            <a:ext cx="10477500" cy="4000500"/>
            <a:chOff x="762000" y="1333500"/>
            <a:chExt cx="10477500" cy="400050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3238500" cy="4000500"/>
            </a:xfrm>
            <a:prstGeom prst="roundRect">
              <a:avLst>
                <a:gd name="adj" fmla="val 4706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3238500" cy="609600"/>
            </a:xfrm>
            <a:prstGeom prst="roundRect">
              <a:avLst>
                <a:gd name="adj" fmla="val 25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1410" y="1523048"/>
              <a:ext cx="15196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自动执行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69770" y="2219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离线识别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4786" y="2562225"/>
              <a:ext cx="2852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红绿灯 / 盲道 / 二维码 / OCR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1730" y="298132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翻译 / 同传播报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67840" y="3324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本地运动记录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7840" y="3743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语音指令识别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3238500" cy="4000500"/>
            </a:xfrm>
            <a:prstGeom prst="roundRect">
              <a:avLst>
                <a:gd name="adj" fmla="val 4706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333500"/>
              <a:ext cx="3238500" cy="609600"/>
            </a:xfrm>
            <a:prstGeom prst="roundRect">
              <a:avLst>
                <a:gd name="adj" fmla="val 25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39575" y="15230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人工确认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89270" y="2219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扫码支付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83480" y="2562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高价值动作需用户确认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0265" y="29813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导航 / 高风险操作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85410" y="3324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执行前确认目的地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87340" y="3743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解题图像上传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1333500"/>
              <a:ext cx="3238500" cy="4000500"/>
            </a:xfrm>
            <a:prstGeom prst="roundRect">
              <a:avLst>
                <a:gd name="adj" fmla="val 4706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01000" y="1333500"/>
              <a:ext cx="3238500" cy="609600"/>
            </a:xfrm>
            <a:prstGeom prst="roundRect">
              <a:avLst>
                <a:gd name="adj" fmla="val 25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83441" y="15230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禁止自动执行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04910" y="2219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健康不作医疗结论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04910" y="2562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视障辅助不替代人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05875" y="2981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原始画面不外传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04910" y="3324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密钥迁服务端代理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04910" y="3743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不做无关人脸识别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381000" y="0"/>
            <a:ext cx="12954000" cy="7429500"/>
            <a:chOff x="-381000" y="0"/>
            <a:chExt cx="12954000" cy="7429500"/>
          </a:xfrm>
        </p:grpSpPr>
        <p:sp>
          <p:nvSpPr>
            <p:cNvPr id="2" name="Ellipse 2"/>
            <p:cNvSpPr/>
            <p:nvPr/>
          </p:nvSpPr>
          <p:spPr>
            <a:xfrm>
              <a:off x="8382000" y="3238500"/>
              <a:ext cx="4191000" cy="4191000"/>
            </a:xfrm>
            <a:prstGeom prst="ellipse">
              <a:avLst/>
            </a:prstGeom>
            <a:noFill/>
            <a:ln w="19050">
              <a:solidFill>
                <a:srgbClr val="FDBA74">
                  <a:alpha val="14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-381000" y="0"/>
              <a:ext cx="3048000" cy="3048000"/>
            </a:xfrm>
            <a:prstGeom prst="ellipse">
              <a:avLst/>
            </a:prstGeom>
            <a:noFill/>
            <a:ln w="19050">
              <a:solidFill>
                <a:srgbClr val="FDBA74">
                  <a:alpha val="10000"/>
                </a:srgbClr>
              </a:solidFill>
            </a:ln>
          </p:spPr>
        </p:sp>
      </p:grpSp>
      <p:sp>
        <p:nvSpPr>
          <p:cNvPr id="5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2968834" y="2722245"/>
            <a:ext cx="6254333" cy="1390650"/>
            <a:chOff x="2968834" y="2722245"/>
            <a:chExt cx="6254333" cy="1390650"/>
          </a:xfrm>
        </p:grpSpPr>
        <p:sp>
          <p:nvSpPr>
            <p:cNvPr id="6" name="TextBox 6"/>
            <p:cNvSpPr txBox="1"/>
            <p:nvPr/>
          </p:nvSpPr>
          <p:spPr>
            <a:xfrm>
              <a:off x="4119945" y="2722245"/>
              <a:ext cx="39521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从"人工找信息"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968834" y="3350895"/>
              <a:ext cx="625433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到"Agent 主动完成任务"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15391" y="4456748"/>
            <a:ext cx="4561218" cy="381381"/>
            <a:chOff x="3815391" y="4456748"/>
            <a:chExt cx="4561218" cy="381381"/>
          </a:xfrm>
        </p:grpSpPr>
        <p:sp>
          <p:nvSpPr>
            <p:cNvPr id="9" name="TextBox 9"/>
            <p:cNvSpPr txBox="1"/>
            <p:nvPr/>
          </p:nvSpPr>
          <p:spPr>
            <a:xfrm>
              <a:off x="3815391" y="4456748"/>
              <a:ext cx="45612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操作最少化 · 离线可依赖 · 能力可编排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05000" y="5143500"/>
            <a:ext cx="8382000" cy="666750"/>
            <a:chOff x="1905000" y="5143500"/>
            <a:chExt cx="8382000" cy="666750"/>
          </a:xfrm>
        </p:grpSpPr>
        <p:sp>
          <p:nvSpPr>
            <p:cNvPr id="11" name="Rectangle 11"/>
            <p:cNvSpPr/>
            <p:nvPr/>
          </p:nvSpPr>
          <p:spPr>
            <a:xfrm>
              <a:off x="1905000" y="5143500"/>
              <a:ext cx="2476500" cy="666750"/>
            </a:xfrm>
            <a:prstGeom prst="roundRect">
              <a:avLst>
                <a:gd name="adj" fmla="val 20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18566" y="5384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一句话完成任务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857750" y="5143500"/>
              <a:ext cx="2476500" cy="666750"/>
            </a:xfrm>
            <a:prstGeom prst="roundRect">
              <a:avLst>
                <a:gd name="adj" fmla="val 20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04545" y="5384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断网仍可用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0" y="5143500"/>
              <a:ext cx="2476500" cy="666750"/>
            </a:xfrm>
            <a:prstGeom prst="roundRect">
              <a:avLst>
                <a:gd name="adj" fmla="val 200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40681" y="53844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多能力可编排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7663434" cy="586740"/>
            <a:chOff x="746760" y="266700"/>
            <a:chExt cx="7663434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76634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无障碍、旅行、运动：三类真实落地场景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62000" y="1333500"/>
            <a:ext cx="10477500" cy="4191000"/>
            <a:chOff x="762000" y="1333500"/>
            <a:chExt cx="10477500" cy="419100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3238500" cy="1143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0971" y="1773555"/>
              <a:ext cx="24405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视障 / 无障碍出行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8835" y="237172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红绿灯识别 · 语音提醒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9800" y="27336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盲道识别 · 方向提示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0765" y="30956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端侧离线 · 低延迟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8651" y="3560921"/>
              <a:ext cx="19451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9A3412"/>
                  </a:solidFill>
                  <a:latin typeface="+mn-lt"/>
                  <a:ea typeface="+mn-ea"/>
                  <a:cs typeface="+mn-cs"/>
                </a:rPr>
                <a:t>"辅助不替代"边界清晰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3335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3238500" cy="1143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96408" y="1773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跨境旅行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69300" y="23717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文字翻译 · 同声传译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69300" y="27336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路牌 / 菜单即看即译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69300" y="30956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地图导航 · 免手操作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14173" y="3560921"/>
              <a:ext cx="17731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"看见"与"理解"合一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13335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01000" y="1333500"/>
              <a:ext cx="3238500" cy="114300"/>
            </a:xfrm>
            <a:prstGeom prst="roundRect">
              <a:avLst>
                <a:gd name="adj" fmla="val 50000"/>
              </a:avLst>
            </a:prstGeom>
            <a:solidFill>
              <a:srgbClr val="FDBA7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48389" y="1773555"/>
              <a:ext cx="21437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户外运动 / 通勤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0516" y="2371725"/>
              <a:ext cx="1839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语音导航 · 3D 导航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90730" y="27336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步数 / 距离检测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5875" y="3095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免手免低头交互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37366" y="3560921"/>
              <a:ext cx="11657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 遥控兜底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gradFill>
            <a:gsLst>
              <a:gs pos="0">
                <a:srgbClr val="FFF1E6"/>
              </a:gs>
              <a:gs pos="100000">
                <a:schemeClr val="lt1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6760" y="266700"/>
            <a:ext cx="7239381" cy="586740"/>
            <a:chOff x="746760" y="266700"/>
            <a:chExt cx="7239381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26670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原型已验证，下一步真实试点与规模化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42950"/>
              <a:ext cx="685800" cy="5715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62000" y="1619250"/>
            <a:ext cx="10668000" cy="2476500"/>
            <a:chOff x="762000" y="1619250"/>
            <a:chExt cx="10668000" cy="247650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2381250" cy="2476500"/>
            </a:xfrm>
            <a:prstGeom prst="roundRect">
              <a:avLst>
                <a:gd name="adj" fmla="val 6400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2381250" cy="609600"/>
            </a:xfrm>
            <a:prstGeom prst="roundRect">
              <a:avLst>
                <a:gd name="adj" fmla="val 25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5754" y="18059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 1 · 原型验证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58645" y="2417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已完成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1905" y="2798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核心链路联调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33673" y="3122771"/>
              <a:ext cx="1237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 条用例通过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1988" y="3446621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 / 权限治理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181350" y="2857500"/>
              <a:ext cx="2857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43300" y="1619250"/>
              <a:ext cx="2381250" cy="2476500"/>
            </a:xfrm>
            <a:prstGeom prst="roundRect">
              <a:avLst>
                <a:gd name="adj" fmla="val 64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43300" y="1619250"/>
              <a:ext cx="2381250" cy="609600"/>
            </a:xfrm>
            <a:prstGeom prst="roundRect">
              <a:avLst>
                <a:gd name="adj" fmla="val 25000"/>
              </a:avLst>
            </a:prstGeom>
            <a:solidFill>
              <a:srgbClr val="FDBA7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7054" y="18059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 2 · 真实试点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33370" y="2417921"/>
              <a:ext cx="1601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视障 / 旅行 / 运动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57625" y="27989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真实任务完成率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53205" y="31227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性能指标实测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47707" y="344662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误报率 / 延迟优化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962650" y="2857500"/>
              <a:ext cx="2857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619250"/>
              <a:ext cx="2381250" cy="2476500"/>
            </a:xfrm>
            <a:prstGeom prst="roundRect">
              <a:avLst>
                <a:gd name="adj" fmla="val 6400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1619250"/>
              <a:ext cx="2381250" cy="609600"/>
            </a:xfrm>
            <a:prstGeom prst="roundRect">
              <a:avLst>
                <a:gd name="adj" fmla="val 25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88354" y="18059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 3 · 系统集成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4505" y="2417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统一工具协议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26517" y="2798921"/>
              <a:ext cx="13774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自主编排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4505" y="31227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长期记忆机制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43344" y="34466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接入真实业务系统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743950" y="2857500"/>
              <a:ext cx="285750" cy="1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105900" y="1619250"/>
              <a:ext cx="2324100" cy="2476500"/>
            </a:xfrm>
            <a:prstGeom prst="roundRect">
              <a:avLst>
                <a:gd name="adj" fmla="val 6557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105900" y="1619250"/>
              <a:ext cx="2324100" cy="609600"/>
            </a:xfrm>
            <a:prstGeom prst="roundRect">
              <a:avLst>
                <a:gd name="adj" fmla="val 25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68295" y="1805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 4 · 规模化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71898" y="2417921"/>
              <a:ext cx="7921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端订阅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34668" y="2798921"/>
              <a:ext cx="22665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端景区 / 无障碍 / 巡检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91650" y="31227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开源可复用组件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96069" y="34466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数据积累驱动迭代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666750" y="-666750"/>
            <a:ext cx="13144500" cy="8001000"/>
            <a:chOff x="-666750" y="-666750"/>
            <a:chExt cx="13144500" cy="8001000"/>
          </a:xfrm>
        </p:grpSpPr>
        <p:sp>
          <p:nvSpPr>
            <p:cNvPr id="2" name="Ellipse 2"/>
            <p:cNvSpPr/>
            <p:nvPr/>
          </p:nvSpPr>
          <p:spPr>
            <a:xfrm>
              <a:off x="8477250" y="-666750"/>
              <a:ext cx="4000500" cy="4000500"/>
            </a:xfrm>
            <a:prstGeom prst="ellipse">
              <a:avLst/>
            </a:prstGeom>
            <a:noFill/>
            <a:ln w="19050">
              <a:solidFill>
                <a:srgbClr val="FDBA74">
                  <a:alpha val="16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-666750" y="4095750"/>
              <a:ext cx="3238500" cy="3238500"/>
            </a:xfrm>
            <a:prstGeom prst="ellipse">
              <a:avLst/>
            </a:prstGeom>
            <a:noFill/>
            <a:ln w="19050">
              <a:solidFill>
                <a:srgbClr val="FDBA74">
                  <a:alpha val="10000"/>
                </a:srgbClr>
              </a:solidFill>
            </a:ln>
          </p:spPr>
        </p:sp>
      </p:grpSp>
      <p:sp>
        <p:nvSpPr>
          <p:cNvPr id="5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515667" y="2659380"/>
            <a:ext cx="7160666" cy="1892999"/>
            <a:chOff x="2515667" y="2659380"/>
            <a:chExt cx="7160666" cy="1892999"/>
          </a:xfrm>
        </p:grpSpPr>
        <p:sp>
          <p:nvSpPr>
            <p:cNvPr id="6" name="TextBox 6"/>
            <p:cNvSpPr txBox="1"/>
            <p:nvPr/>
          </p:nvSpPr>
          <p:spPr>
            <a:xfrm>
              <a:off x="2515667" y="2659380"/>
              <a:ext cx="716066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让智能眼镜成为参与日常生活的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51121" y="3288030"/>
              <a:ext cx="30897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个人智能终端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953000" y="3905250"/>
              <a:ext cx="2286000" cy="762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60947" y="4170998"/>
              <a:ext cx="66701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减少操作 · 端云协同 · 场景化 Agent —— 把能力装进眼前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82048" y="5196840"/>
            <a:ext cx="5627903" cy="816483"/>
            <a:chOff x="3282048" y="5196840"/>
            <a:chExt cx="5627903" cy="816483"/>
          </a:xfrm>
        </p:grpSpPr>
        <p:sp>
          <p:nvSpPr>
            <p:cNvPr id="11" name="TextBox 11"/>
            <p:cNvSpPr txBox="1"/>
            <p:nvPr/>
          </p:nvSpPr>
          <p:spPr>
            <a:xfrm>
              <a:off x="3282048" y="5196840"/>
              <a:ext cx="56279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项目坚持开源 · 模块可复用，为行业提供可落地样板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27302" y="5602605"/>
              <a:ext cx="27373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谢谢聆听 · 欢迎指导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223231" y="65598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_glasses_defense">
  <a:themeElements>
    <a:clrScheme name="ai_glasses_defense">
      <a:dk1>
        <a:srgbClr val="1F2937"/>
      </a:dk1>
      <a:lt1>
        <a:srgbClr val="FFFFFF"/>
      </a:lt1>
      <a:dk2>
        <a:srgbClr val="1F497D"/>
      </a:dk2>
      <a:lt2>
        <a:srgbClr val="FFFFFF"/>
      </a:lt2>
      <a:accent1>
        <a:srgbClr val="1F6FEB"/>
      </a:accent1>
      <a:accent2>
        <a:srgbClr val="0EA5E9"/>
      </a:accent2>
      <a:accent3>
        <a:srgbClr val="22C55E"/>
      </a:accent3>
      <a:accent4>
        <a:srgbClr val="1F6FEB"/>
      </a:accent4>
      <a:accent5>
        <a:srgbClr val="EEF3FB"/>
      </a:accent5>
      <a:accent6>
        <a:srgbClr val="F79646"/>
      </a:accent6>
      <a:hlink>
        <a:srgbClr val="0EA5E9"/>
      </a:hlink>
      <a:folHlink>
        <a:srgbClr val="22C55E"/>
      </a:folHlink>
    </a:clrScheme>
    <a:fontScheme name="ai_glasses_defense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glasses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glasses_defense">
  <a:themeElements>
    <a:clrScheme name="ai_glasses_defense">
      <a:dk1>
        <a:srgbClr val="1F2937"/>
      </a:dk1>
      <a:lt1>
        <a:srgbClr val="FFFFFF"/>
      </a:lt1>
      <a:dk2>
        <a:srgbClr val="1F497D"/>
      </a:dk2>
      <a:lt2>
        <a:srgbClr val="FFFFFF"/>
      </a:lt2>
      <a:accent1>
        <a:srgbClr val="1F6FEB"/>
      </a:accent1>
      <a:accent2>
        <a:srgbClr val="0EA5E9"/>
      </a:accent2>
      <a:accent3>
        <a:srgbClr val="22C55E"/>
      </a:accent3>
      <a:accent4>
        <a:srgbClr val="1F6FEB"/>
      </a:accent4>
      <a:accent5>
        <a:srgbClr val="EEF3FB"/>
      </a:accent5>
      <a:accent6>
        <a:srgbClr val="F79646"/>
      </a:accent6>
      <a:hlink>
        <a:srgbClr val="0EA5E9"/>
      </a:hlink>
      <a:folHlink>
        <a:srgbClr val="22C55E"/>
      </a:folHlink>
    </a:clrScheme>
    <a:fontScheme name="ai_glasses_defense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glasses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2026-08-14T07:33:47Z</dcterms:created>
  <dcterms:modified xsi:type="dcterms:W3CDTF">2026-08-14T07:33:47Z</dcterms:modified>
  <cp:category/>
  <cp:contentStatus/>
</cp:coreProperties>
</file>